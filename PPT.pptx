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  <p:sldId id="270" r:id="rId23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2" Type="http://schemas.openxmlformats.org/officeDocument/2006/relationships/slide" Target="slides/slide14.xml"/><Relationship Id="rId23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arak-Ram-KLH/KLH_CSE_PSPJAVA_T7_VM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128" y="1024128"/>
            <a:ext cx="9875520" cy="2148840"/>
          </a:xfrm>
        </p:spPr>
        <p:txBody>
          <a:bodyPr/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Vending Machine Controller System</a:t>
            </a:r>
            <a:br/>
            <a:r>
              <a:rPr sz="3400" b="1">
                <a:solidFill>
                  <a:srgbClr val="F8FAFC"/>
                </a:solidFill>
                <a:latin typeface="Aptos"/>
              </a:rPr>
              <a:t>Java Programming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60" y="3246120"/>
            <a:ext cx="9326880" cy="2331720"/>
          </a:xfrm>
        </p:spPr>
        <p:txBody>
          <a:bodyPr wrap="square" lIns="45720"/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22D3EE"/>
                </a:solidFill>
                <a:latin typeface="Aptos"/>
              </a:rPr>
              <a:t>Team No. 7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Tarak Ram  —  2620030236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Yashwanth Reddy  —  2620030553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S. Vikas  —  2620030598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16-10-2026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9920" y="0"/>
            <a:ext cx="640080" cy="0"/>
          </a:xfrm>
        </p:spPr>
        <p:txBody>
          <a:bodyPr/>
          <a:lstStyle/>
          <a:p>
            <a:pPr algn="r"/>
            <a:fld id="{CB012AB6-14AF-4351-87AD-D420B05274E1}" type="slidenum">
              <a:rPr lang="en-IN" smtClean="0"/>
              <a:t>1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24128"/>
            <a:ext cx="73152" cy="3566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3675887"/>
            <a:ext cx="4480560" cy="3200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9920" y="0"/>
            <a:ext cx="640080" cy="0"/>
          </a:xfrm>
        </p:spPr>
        <p:txBody>
          <a:bodyPr/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2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10287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9646920" cy="3931920"/>
          </a:xfrm>
          <a:prstGeom prst="rect">
            <a:avLst/>
          </a:prstGeom>
          <a:noFill/>
        </p:spPr>
        <p:txBody>
          <a:bodyPr wrap="square" lIns="109728" tIns="91440" bIns="54864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rPr sz="2000" b="0">
                <a:solidFill>
                  <a:srgbClr val="1E293B"/>
                </a:solidFill>
                <a:latin typeface="Aptos"/>
              </a:rPr>
              <a:t>•  The Vending Machine Controller is a menu-driven Java program for selecting products and completing purchases.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rPr sz="2000" b="0">
                <a:solidFill>
                  <a:srgbClr val="1E293B"/>
                </a:solidFill>
                <a:latin typeface="Aptos"/>
              </a:rPr>
              <a:t>•  It displays product names and prices, accepts quantity and payment, calculates totals, and returns change.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rPr sz="2000" b="0">
                <a:solidFill>
                  <a:srgbClr val="1E293B"/>
                </a:solidFill>
                <a:latin typeface="Aptos"/>
              </a:rPr>
              <a:t>•  The project demonstrates the nine selected Java concepts through practical code examples.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1200"/>
              </a:spcAft>
              <a:defRPr sz="1200" i="1">
                <a:solidFill>
                  <a:srgbClr val="5F6C7A"/>
                </a:solidFill>
                <a:latin typeface="Aptos"/>
              </a:defRPr>
            </a:pPr>
            <a:r>
              <a:rPr sz="2000" b="0">
                <a:solidFill>
                  <a:srgbClr val="1E293B"/>
                </a:solidFill>
                <a:latin typeface="Aptos"/>
              </a:rPr>
              <a:t>Project source: VendingMachineController.java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10512"/>
            <a:ext cx="64008" cy="388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075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JAVA CONCEPT  •  VENDING MACHINE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Data Types and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9920" y="0"/>
            <a:ext cx="640080" cy="0"/>
          </a:xfrm>
        </p:spPr>
        <p:txBody>
          <a:bodyPr/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3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10287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9646920" cy="3931920"/>
          </a:xfrm>
          <a:prstGeom prst="rect">
            <a:avLst/>
          </a:prstGeom>
          <a:noFill/>
        </p:spPr>
        <p:txBody>
          <a:bodyPr wrap="square" lIns="109728" tIns="91440" bIns="54864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String stores product names and messages; int stores prices, quantity, payment, and change.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Arithmetic operators calculate the total and change; relational operators validate payment and quantity.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The result of each calculation controls the purchase flow.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1E9191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Example from the project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private static final String CURRENCY = "Rs.";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return product.getPrice() * quantity;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if (amount &lt; totalPrice) { ... }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1200"/>
              </a:spcAft>
              <a:defRPr sz="1200" i="1">
                <a:solidFill>
                  <a:srgbClr val="5F6C7A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Operators used include +, -, *, &lt;, &gt;, &lt;=, and ==.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10512"/>
            <a:ext cx="64008" cy="388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075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JAVA CONCEPT  •  VENDING MACHINE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Scanner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9920" y="0"/>
            <a:ext cx="640080" cy="0"/>
          </a:xfrm>
        </p:spPr>
        <p:txBody>
          <a:bodyPr/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4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10287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9646920" cy="3931920"/>
          </a:xfrm>
          <a:prstGeom prst="rect">
            <a:avLst/>
          </a:prstGeom>
          <a:noFill/>
        </p:spPr>
        <p:txBody>
          <a:bodyPr wrap="square" lIns="109728" tIns="91440" bIns="54864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Scanner reads values typed by the user through the console.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The program passes the Scanner object to input methods so product choice, quantity, and payment can be read.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nextInt() reads whole-number input; invalid input is handled separately.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1E9191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Example from the project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try (Scanner scanner = new Scanner(System.in)) {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int choice = scanner.nextInt();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}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1200"/>
              </a:spcAft>
              <a:defRPr sz="1200" i="1">
                <a:solidFill>
                  <a:srgbClr val="5F6C7A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The project uses readInteger() and readPositiveInteger() for validated input.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10512"/>
            <a:ext cx="64008" cy="388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075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JAVA CONCEPT  •  VENDING MACHINE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Control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9920" y="0"/>
            <a:ext cx="640080" cy="0"/>
          </a:xfrm>
        </p:spPr>
        <p:txBody>
          <a:bodyPr/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5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10287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9646920" cy="3931920"/>
          </a:xfrm>
          <a:prstGeom prst="rect">
            <a:avLst/>
          </a:prstGeom>
          <a:noFill/>
        </p:spPr>
        <p:txBody>
          <a:bodyPr wrap="square" lIns="109728" tIns="91440" bIns="54864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while loops repeatedly display the menu and retry invalid entries.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if-else checks whether payment is sufficient and whether change is due.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for iterates through the product array; do-while repeats until a positive number is entered.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1E9191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Example from the project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for (int index = 0; index &lt; products.length; index++) {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System.out.println(products[index].describe());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}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1200"/>
              </a:spcAft>
              <a:defRPr sz="1200" i="1">
                <a:solidFill>
                  <a:srgbClr val="5F6C7A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These structures guide selection, validation, and purchase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10512"/>
            <a:ext cx="64008" cy="388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075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JAVA CONCEPT  •  VENDING MACHINE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9920" y="0"/>
            <a:ext cx="640080" cy="0"/>
          </a:xfrm>
        </p:spPr>
        <p:txBody>
          <a:bodyPr/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6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10287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9646920" cy="3931920"/>
          </a:xfrm>
          <a:prstGeom prst="rect">
            <a:avLst/>
          </a:prstGeom>
          <a:noFill/>
        </p:spPr>
        <p:txBody>
          <a:bodyPr wrap="square" lIns="109728" tIns="91440" bIns="54864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Methods divide the program into small, reusable tasks.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displayMenu() shows products; selectProduct() validates the choice; calculateTotal() computes cost.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readInteger() and readPositiveInteger() centralize input validation.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1E9191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Example from the project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private static int calculateTotal(Product product, int quantity) {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return product.getPrice() * quantity;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}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1200"/>
              </a:spcAft>
              <a:defRPr sz="1200" i="1">
                <a:solidFill>
                  <a:srgbClr val="5F6C7A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Parameters provide input to a method, and return values send results 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10512"/>
            <a:ext cx="64008" cy="388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075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JAVA CONCEPT  •  VENDING MACHINE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9920" y="0"/>
            <a:ext cx="640080" cy="0"/>
          </a:xfrm>
        </p:spPr>
        <p:txBody>
          <a:bodyPr/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7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10287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9646920" cy="3931920"/>
          </a:xfrm>
          <a:prstGeom prst="rect">
            <a:avLst/>
          </a:prstGeom>
          <a:noFill/>
        </p:spPr>
        <p:txBody>
          <a:bodyPr wrap="square" lIns="109728" tIns="91440" bIns="54864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A Product[] array stores the vending machine's available products.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The array is initialized with five Product objects and accessed by index.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products.length gives the number of products; choice - 1 converts a menu number to an array index.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1E9191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Example from the project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return new Product[] {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new Product("Lay's", 20),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new Product("Dairy Milk", 30),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new Product("Coca Cola", 40)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};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1200"/>
              </a:spcAft>
              <a:defRPr sz="1200" i="1">
                <a:solidFill>
                  <a:srgbClr val="5F6C7A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Array indexes start at 0, while the displayed menu starts at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10512"/>
            <a:ext cx="64008" cy="388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075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JAVA CONCEPT  •  VENDING MACHINE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9920" y="0"/>
            <a:ext cx="640080" cy="0"/>
          </a:xfrm>
        </p:spPr>
        <p:txBody>
          <a:bodyPr/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8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10287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9646920" cy="3931920"/>
          </a:xfrm>
          <a:prstGeom prst="rect">
            <a:avLst/>
          </a:prstGeom>
          <a:noFill/>
        </p:spPr>
        <p:txBody>
          <a:bodyPr wrap="square" lIns="109728" tIns="91440" bIns="54864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Item is the parent class and contains shared product data: name and price.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Product extends Item, so each product reuses the parent's fields and methods.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super(name, price) calls the parent constructor to initialize inherited data.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1E9191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Example from the project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static class Product extends Item {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Product(String name, int price) {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    super(name, price);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}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}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1200"/>
              </a:spcAft>
              <a:defRPr sz="1200" i="1">
                <a:solidFill>
                  <a:srgbClr val="5F6C7A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This is an example of single inheritance.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10512"/>
            <a:ext cx="64008" cy="388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075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JAVA CONCEPT  •  VENDING MACHINE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9920" y="0"/>
            <a:ext cx="640080" cy="0"/>
          </a:xfrm>
        </p:spPr>
        <p:txBody>
          <a:bodyPr/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9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10287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9646920" cy="3931920"/>
          </a:xfrm>
          <a:prstGeom prst="rect">
            <a:avLst/>
          </a:prstGeom>
          <a:noFill/>
        </p:spPr>
        <p:txBody>
          <a:bodyPr wrap="square" lIns="109728" tIns="91440" bIns="54864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String values represent product names, currency labels, and console messages.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The + operator joins text with values to create readable output.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toUpperCase() converts the selected product name to uppercase for display.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1E9191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Example from the project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System.out.println("Selected product: "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    + selectedProduct.getName().toUpperCase());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1200"/>
              </a:spcAft>
              <a:defRPr sz="1200" i="1">
                <a:solidFill>
                  <a:srgbClr val="5F6C7A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Example output: SELECTED PRODUCT: DAIRY MILK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10512"/>
            <a:ext cx="64008" cy="388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075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JAVA CONCEPT  •  VENDING MACHINE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9920" y="0"/>
            <a:ext cx="640080" cy="0"/>
          </a:xfrm>
        </p:spPr>
        <p:txBody>
          <a:bodyPr/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10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10287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9646920" cy="3931920"/>
          </a:xfrm>
          <a:prstGeom prst="rect">
            <a:avLst/>
          </a:prstGeom>
          <a:noFill/>
        </p:spPr>
        <p:txBody>
          <a:bodyPr wrap="square" lIns="109728" tIns="91440" bIns="54864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InputMismatchException occurs when the user enters a non-integer where an integer is expected.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A try-catch block displays an error message and consumes the invalid token.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The loop then asks for input again instead of terminating the program.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1E9191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Example from the project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try {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return scanner.nextInt();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} catch (InputMismatchException exception) {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System.out.println("Invalid input. Please enter a whole number.");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scanner.next();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}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1200"/>
              </a:spcAft>
              <a:defRPr sz="1200" i="1">
                <a:solidFill>
                  <a:srgbClr val="5F6C7A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This makes console input more robust.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10512"/>
            <a:ext cx="64008" cy="388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075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JAVA CONCEPT  •  VENDING MACHINE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Method Overriding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0197-AF06-5AEF-7EEE-2BB7A4AD9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9920" y="0"/>
            <a:ext cx="640080" cy="0"/>
          </a:xfrm>
        </p:spPr>
        <p:txBody>
          <a:bodyPr/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11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10287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9646920" cy="3931920"/>
          </a:xfrm>
          <a:prstGeom prst="rect">
            <a:avLst/>
          </a:prstGeom>
          <a:noFill/>
        </p:spPr>
        <p:txBody>
          <a:bodyPr wrap="square" lIns="109728" tIns="91440" bIns="54864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Item defines describe() to return a product name and price.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Product overrides describe() to add the availability status.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@Override marks the method as an intentional replacement of the inherited implementation.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1E9191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Example from the project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@Override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public String describe() {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    return super.describe() + " - Available";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300">
                <a:solidFill>
                  <a:srgbClr val="183052"/>
                </a:solidFill>
                <a:latin typeface="Consola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}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1200"/>
              </a:spcAft>
              <a:defRPr sz="1200" i="1">
                <a:solidFill>
                  <a:srgbClr val="5F6C7A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The menu calls describe() to display each product's details.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10512"/>
            <a:ext cx="64008" cy="388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0759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DD4BF"/>
                </a:solidFill>
                <a:latin typeface="Aptos"/>
              </a:rPr>
              <a:t>JAVA CONCEPT  •  VENDING MACHINE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8FAFC"/>
                </a:solidFill>
                <a:latin typeface="Aptos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16-10-2026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9920" y="0"/>
            <a:ext cx="640080" cy="0"/>
          </a:xfrm>
        </p:spPr>
        <p:txBody>
          <a:bodyPr/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12</a:t>
            </a:r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10287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10512"/>
            <a:ext cx="9646920" cy="3931920"/>
          </a:xfrm>
          <a:prstGeom prst="rect">
            <a:avLst/>
          </a:prstGeom>
          <a:noFill/>
        </p:spPr>
        <p:txBody>
          <a:bodyPr wrap="square" lIns="109728" tIns="91440" bIns="54864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The vending machine project applies all nine selected Java topics in one practical program.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Methods and arrays organize the code; control structures and operators implement purchase logic.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•  Inheritance, strings, overriding, Scanner, and exception handling support reusable and interactive behavior.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1200"/>
              </a:spcAft>
              <a:defRPr sz="1200" i="1">
                <a:solidFill>
                  <a:srgbClr val="5F6C7A"/>
                </a:solidFill>
                <a:latin typeface="Aptos"/>
              </a:defRPr>
            </a:pPr>
            <a:r>
              <a:rPr sz="1900" b="0">
                <a:solidFill>
                  <a:srgbClr val="1E293B"/>
                </a:solidFill>
                <a:latin typeface="Aptos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10512"/>
            <a:ext cx="64008" cy="388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965960" cy="4114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7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Sample Program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D4BF"/>
                </a:solidFill>
                <a:latin typeface="Aptos"/>
              </a:rPr>
              <a:t>Vending Machine Controller System  •  Successful purchase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81328"/>
            <a:ext cx="10652760" cy="4983480"/>
          </a:xfrm>
          <a:prstGeom prst="roundRect">
            <a:avLst/>
          </a:prstGeom>
          <a:solidFill>
            <a:srgbClr val="020617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664208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166420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9888" y="1664208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01952"/>
            <a:ext cx="10104120" cy="43159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=== VENDING MACHINE CONTROLLER SYSTEM ===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Available Products: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1. Lay's - Rs.20 - Available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2. Dairy Milk - Rs.30 - Available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3. Coca Cola - Rs.40 - Available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4. Kinley - Rs.15 - Available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5. Unibic Cookies - Rs.25 - Available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Enter product number (0 to exit): 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Selected product: COCA COLA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Price per item: Rs.40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Enter quantity: 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Total price: Rs.80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8FAFC"/>
                </a:solidFill>
                <a:latin typeface="Consolas"/>
              </a:rPr>
              <a:t>Enter amount: Rs.100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2DD4BF"/>
                </a:solidFill>
                <a:latin typeface="Consolas"/>
              </a:rPr>
              <a:t>Purchase successful! Please collect 2 x Coca Cola.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2DD4BF"/>
                </a:solidFill>
                <a:latin typeface="Consolas"/>
              </a:rPr>
              <a:t>Your change: Rs.20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2514600"/>
            <a:ext cx="10104120" cy="914400"/>
          </a:xfrm>
          <a:prstGeom prst="rect">
            <a:avLst/>
          </a:prstGeom>
          <a:solidFill>
            <a:srgbClr val="111D33"/>
          </a:solidFill>
          <a:ln w="25400">
            <a:solidFill>
              <a:srgbClr val="22D3EE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1900" b="1" u="sng">
                <a:solidFill>
                  <a:srgbClr val="22D3EE"/>
                </a:solidFill>
                <a:latin typeface="Aptos"/>
                <a:hlinkClick r:id="rId2"/>
              </a:rPr>
              <a:t>https://github.com/Tarak-Ram-KLH/KLH_CSE_PSPJAVA_T7_VMCS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744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400" b="1">
                <a:solidFill>
                  <a:srgbClr val="F1F5F9"/>
                </a:solidFill>
                <a:latin typeface="Aptos Display"/>
              </a:rPr>
              <a:t>GitHub Link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2040" y="1847088"/>
            <a:ext cx="2423160" cy="640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41148" cy="5806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05488" y="502920"/>
            <a:ext cx="41148" cy="5806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438912"/>
            <a:ext cx="1028700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5394960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9960" y="114300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0" y="5349240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34440" y="1280160"/>
            <a:ext cx="73152" cy="7315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3703320"/>
            <a:ext cx="3520440" cy="6400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